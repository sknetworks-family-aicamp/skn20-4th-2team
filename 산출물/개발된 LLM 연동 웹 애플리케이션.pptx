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2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B8023-A4E9-45B9-3CF4-DABA1ECDC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96FB26-D2FC-2E94-7B42-B88B04DC9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657E82-CFB3-4A51-0B6D-41B2C4694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C765C-4D7A-1187-B36C-A7DF2EAD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1CA6A9-F00C-39BD-7DC9-5AC5D4D1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84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B36E9-3F48-A2CC-3422-A105ED53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17898D-9BA0-119E-D2F6-7E2289472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C1BB46-6977-98D5-A254-0BCDF941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F58BD9-5C08-8F85-F81F-40E9ADE2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3DEF46-6C9B-9E69-AE1D-21EBBCA3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847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76183-6C41-1C81-FEE4-5AD8AD96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52EA05-EEC0-6393-DEFA-11BBE2D97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517255-5927-C8D9-B1F3-2C2AB2536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9F8FA-31E7-4036-76F5-F4103135F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794FD-C9E5-A216-EA08-177B1A02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893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0EB14-AD28-A451-3E73-70CAD9F5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D4FD19-71C3-7623-8B10-654853FCB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3D9D1E-C919-05D0-4466-CF5757156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D7BED8-8979-D02C-C1D7-E1A82110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BCF3C5-593F-D071-4F55-212A85C7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08DE5B-EF73-7D5C-4925-20ADF287F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32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B354C5-F2DC-4583-8CD9-40F16B0F9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ACA800-05F6-6F19-64DE-9CDDDB6E5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8F47DC-C1BA-7728-38BB-ED0906AD8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EAF80D-0DC3-5D98-31F4-6F1BF98EB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406F2C-FCEB-7CEE-A166-84D8B0599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EB0DC6-15A6-10B0-FDDE-C8DFD0226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68D5749-847B-E4C5-0556-3657B2070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3CF2D7-B093-7E70-F0DF-159A2D028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682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AE195-DF76-FEB0-D2D1-A3955119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286AF5-A089-61BC-2362-93581F64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E23059-DEE1-903C-4BDB-2A316D22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BC709B-CC98-2281-B7E0-38399663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041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C37169-AFCD-CB84-DA1C-115A0839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03BCC6-23AF-4337-042F-A59B24D10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E14F75-CF1A-74F2-4256-7E4BDF68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175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F725F-60C6-34AC-C28D-3052F739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7B4CC-A3C0-D264-C594-B1A1C2EFF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F0A56E-F154-81D8-1B66-B45D3C891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00CAAB-3215-EA50-EE19-0BDF44A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FCCD67-3538-1959-1FAC-349B1549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B60CFA-495D-1F42-5B74-3F490C24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052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65B168-ABCF-C4ED-9F52-FC8318FAB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25D0EC-82C5-D9C4-6FA6-125A98C599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3ABF39-F02C-FBFA-FD29-C286B9EE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E8864C-C5FC-757A-E009-8CC64EAA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AD023E-AF95-E987-E5D0-F1470FAA9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569663-5C4E-07F9-C9AB-80E2EEB8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242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EA6586-508C-5A2C-D9FF-CAF58CCC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EA844C-AC22-BF68-5A90-DBDBFEE2E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B08C96-06EF-1C80-D243-812B8BD2F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E9164F-309B-64B0-E889-41EE0FC63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D06160-5A49-CC38-9232-956413DDE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280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68E91B-3DE2-A30D-C721-CEA7ABABC0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B57E7A-3152-E89F-FFF4-5AB9A1E56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736B07-1DC0-5302-1E43-13BA7F6BD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AF85E9-640A-D510-1F28-D35D8DBD7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3DB16D-A657-DA79-5BD0-32E03083C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42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594BF2-E1EE-3990-D5B1-005917C3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4BBF73-128E-E782-764F-E31110618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2B827B-4077-8D7D-C685-D813CD61D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B30F0-7CE1-4FB2-BC50-95E7A8C61022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65C768-5B33-AD2D-5546-9ED116636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2D62CF-0E6B-92A1-9DA3-8325DD25C0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F5E1E-7ECF-4C5D-8D37-5055F8432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24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그림 12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36A36B-24CD-5B56-E950-3750DF4F0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54" y="1119340"/>
            <a:ext cx="10860118" cy="454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19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2FBAD8E-F7D5-D208-104D-5083CD1B0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880" y="937469"/>
            <a:ext cx="8074815" cy="2800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b="1" dirty="0"/>
              <a:t>1. </a:t>
            </a:r>
            <a:r>
              <a:rPr lang="ko-KR" altLang="en-US" sz="1100" b="1" dirty="0"/>
              <a:t>시스템 개요</a:t>
            </a:r>
            <a:endParaRPr lang="en-US" altLang="ko-KR" sz="1100" dirty="0"/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100" dirty="0"/>
              <a:t>본 시스템은 사용자 친화적인 웹 인터페이스를 통해 대규모 언어 모델</a:t>
            </a:r>
            <a:r>
              <a:rPr lang="en-US" altLang="ko-KR" sz="1100" dirty="0"/>
              <a:t>(LLM)</a:t>
            </a:r>
            <a:r>
              <a:rPr lang="ko-KR" altLang="en-US" sz="1100" dirty="0"/>
              <a:t>과 상호작용하며</a:t>
            </a:r>
            <a:r>
              <a:rPr lang="en-US" altLang="ko-KR" sz="1100" dirty="0"/>
              <a:t>, </a:t>
            </a:r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Retrieval-Augmented Generation(RAG) </a:t>
            </a:r>
            <a:r>
              <a:rPr lang="ko-KR" altLang="en-US" sz="1100" dirty="0"/>
              <a:t>기술을 활용하여 환각</a:t>
            </a:r>
            <a:r>
              <a:rPr lang="en-US" altLang="ko-KR" sz="1100" dirty="0"/>
              <a:t>(hallucination)</a:t>
            </a:r>
            <a:r>
              <a:rPr lang="ko-KR" altLang="en-US" sz="1100" dirty="0"/>
              <a:t>을 최소화한 정확한 정보 기반의 답변 제공을 목표로 합니다</a:t>
            </a:r>
            <a:r>
              <a:rPr lang="en-US" altLang="ko-KR" sz="1100" dirty="0"/>
              <a:t>.</a:t>
            </a:r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endParaRPr lang="en-US" altLang="ko-KR" sz="1100" dirty="0"/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endParaRPr lang="en-US" altLang="ko-KR" sz="1100" dirty="0"/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b="1" dirty="0"/>
              <a:t>2. </a:t>
            </a:r>
            <a:r>
              <a:rPr lang="ko-KR" altLang="en-US" sz="1100" b="1" dirty="0"/>
              <a:t>시스템 아키텍처</a:t>
            </a:r>
            <a:endParaRPr lang="en-US" altLang="ko-KR" sz="1100" dirty="0"/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100" dirty="0"/>
              <a:t>본 시스템은 크게 </a:t>
            </a:r>
            <a:r>
              <a:rPr lang="en-US" altLang="ko-KR" sz="1100" dirty="0"/>
              <a:t>Frontend, Backend-DB, </a:t>
            </a:r>
            <a:r>
              <a:rPr lang="ko-KR" altLang="en-US" sz="1100" dirty="0"/>
              <a:t>그리고 </a:t>
            </a:r>
            <a:r>
              <a:rPr lang="en-US" altLang="ko-KR" sz="1100" dirty="0"/>
              <a:t>LLM </a:t>
            </a:r>
            <a:r>
              <a:rPr lang="ko-KR" altLang="en-US" sz="1100" dirty="0"/>
              <a:t>및 </a:t>
            </a:r>
            <a:r>
              <a:rPr lang="en-US" altLang="ko-KR" sz="1100" dirty="0"/>
              <a:t>RAG</a:t>
            </a:r>
            <a:r>
              <a:rPr lang="ko-KR" altLang="en-US" sz="1100" dirty="0"/>
              <a:t>의 세 부분으로 구성됩니다</a:t>
            </a:r>
            <a:r>
              <a:rPr lang="en-US" altLang="ko-KR" sz="1100" dirty="0"/>
              <a:t>.</a:t>
            </a:r>
          </a:p>
          <a:p>
            <a:pPr latinLnBrk="0">
              <a:lnSpc>
                <a:spcPct val="90000"/>
              </a:lnSpc>
              <a:spcAft>
                <a:spcPts val="600"/>
              </a:spcAft>
            </a:pPr>
            <a:endParaRPr lang="en-US" altLang="ko-KR" sz="1100" dirty="0"/>
          </a:p>
          <a:p>
            <a:pPr lvl="1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b="1" dirty="0"/>
              <a:t>2.1. Frontend</a:t>
            </a:r>
            <a:endParaRPr lang="en-US" altLang="ko-KR" sz="1100" dirty="0"/>
          </a:p>
          <a:p>
            <a:pPr lvl="1"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100" dirty="0"/>
              <a:t>사용자 인터페이스</a:t>
            </a:r>
            <a:r>
              <a:rPr lang="en-US" altLang="ko-KR" sz="1100" dirty="0"/>
              <a:t>(UI): </a:t>
            </a:r>
            <a:r>
              <a:rPr lang="ko-KR" altLang="en-US" sz="1100" dirty="0"/>
              <a:t>사용자는 웹 브라우저를 통해 시스템에 접근합니다</a:t>
            </a:r>
            <a:r>
              <a:rPr lang="en-US" altLang="ko-KR" sz="1100" dirty="0"/>
              <a:t>.  </a:t>
            </a:r>
          </a:p>
          <a:p>
            <a:pPr lvl="1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Frontend</a:t>
            </a:r>
            <a:r>
              <a:rPr lang="ko-KR" altLang="en-US" sz="1100" dirty="0"/>
              <a:t>는 </a:t>
            </a:r>
            <a:r>
              <a:rPr lang="en-US" altLang="ko-KR" sz="1100" dirty="0"/>
              <a:t>Django Template </a:t>
            </a:r>
            <a:r>
              <a:rPr lang="ko-KR" altLang="en-US" sz="1100" dirty="0"/>
              <a:t>기반의 서버 사이드 렌더링 방식으로 구현되었으며</a:t>
            </a:r>
            <a:r>
              <a:rPr lang="en-US" altLang="ko-KR" sz="1100" dirty="0"/>
              <a:t>, HTML/CSS </a:t>
            </a:r>
            <a:r>
              <a:rPr lang="ko-KR" altLang="en-US" sz="1100" dirty="0"/>
              <a:t>및 </a:t>
            </a:r>
            <a:r>
              <a:rPr lang="en-US" altLang="ko-KR" sz="1100" dirty="0"/>
              <a:t>JavaScript</a:t>
            </a:r>
            <a:r>
              <a:rPr lang="ko-KR" altLang="en-US" sz="1100" dirty="0"/>
              <a:t>를 활용하여 사용자 인터페이스를 구성합니다</a:t>
            </a:r>
            <a:r>
              <a:rPr lang="en-US" altLang="ko-KR" sz="1100" dirty="0"/>
              <a:t>.</a:t>
            </a:r>
          </a:p>
          <a:p>
            <a:pPr lvl="1" latinLnBrk="0">
              <a:lnSpc>
                <a:spcPct val="90000"/>
              </a:lnSpc>
              <a:spcAft>
                <a:spcPts val="600"/>
              </a:spcAft>
            </a:pPr>
            <a:endParaRPr lang="en-US" altLang="ko-KR" sz="1100" dirty="0"/>
          </a:p>
          <a:p>
            <a:pPr lvl="1"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100" b="1" dirty="0"/>
              <a:t>주요 기능</a:t>
            </a:r>
            <a:r>
              <a:rPr lang="en-US" altLang="ko-KR" sz="1100" b="1" dirty="0"/>
              <a:t>:</a:t>
            </a:r>
          </a:p>
          <a:p>
            <a:pPr lvl="2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- </a:t>
            </a:r>
            <a:r>
              <a:rPr lang="ko-KR" altLang="en-US" sz="1100" dirty="0"/>
              <a:t>사용자 관리</a:t>
            </a:r>
            <a:r>
              <a:rPr lang="en-US" altLang="ko-KR" sz="1100" dirty="0"/>
              <a:t>: </a:t>
            </a:r>
            <a:r>
              <a:rPr lang="ko-KR" altLang="en-US" sz="1100" dirty="0"/>
              <a:t>사용자는 회원가입</a:t>
            </a:r>
            <a:r>
              <a:rPr lang="en-US" altLang="ko-KR" sz="1100" dirty="0"/>
              <a:t>(Sign up) </a:t>
            </a:r>
            <a:r>
              <a:rPr lang="ko-KR" altLang="en-US" sz="1100" dirty="0"/>
              <a:t>및 로그인</a:t>
            </a:r>
            <a:r>
              <a:rPr lang="en-US" altLang="ko-KR" sz="1100" dirty="0"/>
              <a:t>(Log in) </a:t>
            </a:r>
            <a:r>
              <a:rPr lang="ko-KR" altLang="en-US" sz="1100" dirty="0"/>
              <a:t>기능을 통해 시스템에 접근할 수 있으며</a:t>
            </a:r>
            <a:r>
              <a:rPr lang="en-US" altLang="ko-KR" sz="1100" dirty="0"/>
              <a:t>, </a:t>
            </a:r>
            <a:r>
              <a:rPr lang="ko-KR" altLang="en-US" sz="1100" dirty="0"/>
              <a:t>회원 정보 수정 기능을 지원합니다</a:t>
            </a:r>
            <a:r>
              <a:rPr lang="en-US" altLang="ko-KR" sz="1100" dirty="0"/>
              <a:t>.</a:t>
            </a:r>
          </a:p>
          <a:p>
            <a:pPr lvl="2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- </a:t>
            </a:r>
            <a:r>
              <a:rPr lang="ko-KR" altLang="en-US" sz="1100" dirty="0" err="1"/>
              <a:t>챗봇</a:t>
            </a:r>
            <a:r>
              <a:rPr lang="en-US" altLang="ko-KR" sz="1100" dirty="0"/>
              <a:t>(</a:t>
            </a:r>
            <a:r>
              <a:rPr lang="en-US" altLang="ko-KR" sz="1100" dirty="0" err="1"/>
              <a:t>ChatBot</a:t>
            </a:r>
            <a:r>
              <a:rPr lang="en-US" altLang="ko-KR" sz="1100" dirty="0"/>
              <a:t>): </a:t>
            </a:r>
            <a:r>
              <a:rPr lang="ko-KR" altLang="en-US" sz="1100" dirty="0"/>
              <a:t>사용자의 질문을 </a:t>
            </a:r>
            <a:r>
              <a:rPr lang="ko-KR" altLang="en-US" sz="1100" dirty="0" err="1"/>
              <a:t>입력받고</a:t>
            </a:r>
            <a:r>
              <a:rPr lang="en-US" altLang="ko-KR" sz="1100" dirty="0"/>
              <a:t>, </a:t>
            </a:r>
            <a:r>
              <a:rPr lang="ko-KR" altLang="en-US" sz="1100" dirty="0"/>
              <a:t>시스템이 생성한 답변을 실시간으로 확인할 수 있는 핵심 상호작용 채널입니다</a:t>
            </a:r>
            <a:r>
              <a:rPr lang="en-US" altLang="ko-KR" sz="1100" dirty="0"/>
              <a:t>.</a:t>
            </a:r>
          </a:p>
          <a:p>
            <a:pPr lvl="2"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100" dirty="0"/>
              <a:t>프로젝트 관리</a:t>
            </a:r>
            <a:r>
              <a:rPr lang="en-US" altLang="ko-KR" sz="1100" dirty="0"/>
              <a:t>: </a:t>
            </a:r>
            <a:r>
              <a:rPr lang="ko-KR" altLang="en-US" sz="1100" dirty="0"/>
              <a:t>사용자는 전체 대화 목록을 조회하고 프로젝트</a:t>
            </a:r>
            <a:r>
              <a:rPr lang="en-US" altLang="ko-KR" sz="1100" dirty="0"/>
              <a:t>(</a:t>
            </a:r>
            <a:r>
              <a:rPr lang="ko-KR" altLang="en-US" sz="1100" dirty="0"/>
              <a:t>폴더</a:t>
            </a:r>
            <a:r>
              <a:rPr lang="en-US" altLang="ko-KR" sz="1100" dirty="0"/>
              <a:t>)</a:t>
            </a:r>
            <a:r>
              <a:rPr lang="ko-KR" altLang="en-US" sz="1100" dirty="0"/>
              <a:t>를 생성</a:t>
            </a:r>
            <a:r>
              <a:rPr lang="en-US" altLang="ko-KR" sz="1100" dirty="0"/>
              <a:t>·</a:t>
            </a:r>
            <a:r>
              <a:rPr lang="ko-KR" altLang="en-US" sz="1100" dirty="0"/>
              <a:t>삭제할 수 있으며</a:t>
            </a:r>
            <a:r>
              <a:rPr lang="en-US" altLang="ko-KR" sz="1100" dirty="0"/>
              <a:t>,</a:t>
            </a:r>
          </a:p>
          <a:p>
            <a:pPr marL="1143000" lvl="3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	     </a:t>
            </a:r>
            <a:r>
              <a:rPr lang="ko-KR" altLang="en-US" sz="1100" dirty="0"/>
              <a:t>기존 대화를 특정 프로젝트에 추가하거나 제거하여 대화를 체계적으로 관리할 수 있습니다</a:t>
            </a:r>
            <a:r>
              <a:rPr lang="en-US" altLang="ko-KR" sz="1100" dirty="0"/>
              <a:t>.</a:t>
            </a:r>
          </a:p>
          <a:p>
            <a:pPr lvl="2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- </a:t>
            </a:r>
            <a:r>
              <a:rPr lang="ko-KR" altLang="en-US" sz="1100" dirty="0"/>
              <a:t>홈페이지</a:t>
            </a:r>
            <a:r>
              <a:rPr lang="en-US" altLang="ko-KR" sz="1100" dirty="0"/>
              <a:t>(Homepage): </a:t>
            </a:r>
            <a:r>
              <a:rPr lang="ko-KR" altLang="en-US" sz="1100" dirty="0"/>
              <a:t>시스템의 초기 화면 및 서비스 안내 정보를 제공합니다</a:t>
            </a:r>
            <a:r>
              <a:rPr lang="en-US" altLang="ko-KR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726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7DE7F-E566-BA6E-CAF5-FDA0FFD8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A88046-7CE7-23E1-5C27-29CFC5D6D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B8B47DEB-E8C3-DA18-2F01-9E476358E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1EA2BB-F01C-3657-878A-5E5228AAA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492E44F-81E2-F1A0-EF4F-329E4298D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880" y="937469"/>
            <a:ext cx="10124440" cy="2800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b="1" dirty="0"/>
              <a:t>2.2. Backend-DB</a:t>
            </a:r>
            <a:endParaRPr lang="en-US" altLang="ko-KR" sz="1100" dirty="0"/>
          </a:p>
          <a:p>
            <a:pPr marL="228600" lvl="1"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100" b="1" dirty="0"/>
              <a:t>서버 프레임워크</a:t>
            </a:r>
            <a:r>
              <a:rPr lang="en-US" altLang="ko-KR" sz="1100" b="1" dirty="0"/>
              <a:t>:</a:t>
            </a:r>
          </a:p>
          <a:p>
            <a:pPr marL="685800" lvl="2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- Django</a:t>
            </a:r>
            <a:r>
              <a:rPr lang="ko-KR" altLang="en-US" sz="1100" dirty="0"/>
              <a:t>는 사용자 인증</a:t>
            </a:r>
            <a:r>
              <a:rPr lang="en-US" altLang="ko-KR" sz="1100" dirty="0"/>
              <a:t>, </a:t>
            </a:r>
            <a:r>
              <a:rPr lang="ko-KR" altLang="en-US" sz="1100" dirty="0"/>
              <a:t>계정 관리</a:t>
            </a:r>
            <a:r>
              <a:rPr lang="en-US" altLang="ko-KR" sz="1100" dirty="0"/>
              <a:t>, </a:t>
            </a:r>
            <a:r>
              <a:rPr lang="ko-KR" altLang="en-US" sz="1100" dirty="0"/>
              <a:t>프로젝트 관리 기능을 담당합니다</a:t>
            </a:r>
            <a:r>
              <a:rPr lang="en-US" altLang="ko-KR" sz="1100" dirty="0"/>
              <a:t>.</a:t>
            </a:r>
          </a:p>
          <a:p>
            <a:pPr marL="685800" lvl="2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- </a:t>
            </a:r>
            <a:r>
              <a:rPr lang="en-US" altLang="ko-KR" sz="1100" dirty="0" err="1"/>
              <a:t>FastAPI</a:t>
            </a:r>
            <a:r>
              <a:rPr lang="ko-KR" altLang="en-US" sz="1100" dirty="0"/>
              <a:t>는 </a:t>
            </a:r>
            <a:r>
              <a:rPr lang="en-US" altLang="ko-KR" sz="1100" dirty="0"/>
              <a:t>LLM </a:t>
            </a:r>
            <a:r>
              <a:rPr lang="ko-KR" altLang="en-US" sz="1100" dirty="0"/>
              <a:t>질의 처리 및 </a:t>
            </a:r>
            <a:r>
              <a:rPr lang="en-US" altLang="ko-KR" sz="1100" dirty="0"/>
              <a:t>RAG </a:t>
            </a:r>
            <a:r>
              <a:rPr lang="ko-KR" altLang="en-US" sz="1100" dirty="0"/>
              <a:t>파이프라인 </a:t>
            </a:r>
            <a:r>
              <a:rPr lang="en-US" altLang="ko-KR" sz="1100" dirty="0"/>
              <a:t>API</a:t>
            </a:r>
            <a:r>
              <a:rPr lang="ko-KR" altLang="en-US" sz="1100" dirty="0"/>
              <a:t>를 담당합니다</a:t>
            </a:r>
            <a:r>
              <a:rPr lang="en-US" altLang="ko-KR" sz="1100" dirty="0"/>
              <a:t>.</a:t>
            </a:r>
          </a:p>
          <a:p>
            <a:pPr marL="228600" lvl="1" latinLnBrk="0">
              <a:lnSpc>
                <a:spcPct val="90000"/>
              </a:lnSpc>
              <a:spcAft>
                <a:spcPts val="600"/>
              </a:spcAft>
            </a:pPr>
            <a:endParaRPr lang="en-US" altLang="ko-KR" sz="1100" dirty="0"/>
          </a:p>
          <a:p>
            <a:pPr marL="228600" lvl="1"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100" b="1" dirty="0"/>
              <a:t>데이터베이스</a:t>
            </a:r>
            <a:r>
              <a:rPr lang="en-US" altLang="ko-KR" sz="1100" b="1" dirty="0"/>
              <a:t>(DB):</a:t>
            </a:r>
          </a:p>
          <a:p>
            <a:pPr marL="685800" lvl="2" latinLnBrk="0">
              <a:lnSpc>
                <a:spcPct val="90000"/>
              </a:lnSpc>
              <a:spcAft>
                <a:spcPts val="600"/>
              </a:spcAft>
            </a:pPr>
            <a:r>
              <a:rPr lang="ko-KR" altLang="en-US" sz="1100" dirty="0"/>
              <a:t>시스템 운영에 필요한 데이터를 저장하고 관리하며</a:t>
            </a:r>
            <a:r>
              <a:rPr lang="en-US" altLang="ko-KR" sz="1100" dirty="0"/>
              <a:t>, </a:t>
            </a:r>
            <a:r>
              <a:rPr lang="ko-KR" altLang="en-US" sz="1100" dirty="0"/>
              <a:t>다음과 같은 데이터베이스로 구성됩니다</a:t>
            </a:r>
            <a:r>
              <a:rPr lang="en-US" altLang="ko-KR" sz="1100" dirty="0"/>
              <a:t>.</a:t>
            </a:r>
          </a:p>
          <a:p>
            <a:pPr marL="685800" lvl="2" latinLnBrk="0">
              <a:lnSpc>
                <a:spcPct val="90000"/>
              </a:lnSpc>
              <a:spcAft>
                <a:spcPts val="600"/>
              </a:spcAft>
            </a:pPr>
            <a:endParaRPr lang="en-US" altLang="ko-KR" sz="1100" dirty="0"/>
          </a:p>
          <a:p>
            <a:pPr marL="1143000" lvl="3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- </a:t>
            </a:r>
            <a:r>
              <a:rPr lang="en-US" altLang="ko-KR" sz="1100" dirty="0" err="1"/>
              <a:t>UserDB</a:t>
            </a:r>
            <a:r>
              <a:rPr lang="en-US" altLang="ko-KR" sz="1100" dirty="0"/>
              <a:t>: Django</a:t>
            </a:r>
            <a:r>
              <a:rPr lang="ko-KR" altLang="en-US" sz="1100" dirty="0"/>
              <a:t>의 기본 인증 모델을 활용하여 사용자 계정 정보</a:t>
            </a:r>
            <a:r>
              <a:rPr lang="en-US" altLang="ko-KR" sz="1100" dirty="0"/>
              <a:t>(</a:t>
            </a:r>
            <a:r>
              <a:rPr lang="ko-KR" altLang="en-US" sz="1100" dirty="0"/>
              <a:t>아이디</a:t>
            </a:r>
            <a:r>
              <a:rPr lang="en-US" altLang="ko-KR" sz="1100" dirty="0"/>
              <a:t>, </a:t>
            </a:r>
            <a:r>
              <a:rPr lang="ko-KR" altLang="en-US" sz="1100" dirty="0"/>
              <a:t>이메일 등</a:t>
            </a:r>
            <a:r>
              <a:rPr lang="en-US" altLang="ko-KR" sz="1100" dirty="0"/>
              <a:t>)</a:t>
            </a:r>
            <a:r>
              <a:rPr lang="ko-KR" altLang="en-US" sz="1100" dirty="0"/>
              <a:t>를 저장합니다</a:t>
            </a:r>
            <a:r>
              <a:rPr lang="en-US" altLang="ko-KR" sz="1100" dirty="0"/>
              <a:t>.</a:t>
            </a:r>
          </a:p>
          <a:p>
            <a:pPr marL="1143000" lvl="3" latinLnBrk="0">
              <a:lnSpc>
                <a:spcPct val="90000"/>
              </a:lnSpc>
              <a:spcAft>
                <a:spcPts val="600"/>
              </a:spcAft>
            </a:pPr>
            <a:endParaRPr lang="en-US" altLang="ko-KR" sz="1100" dirty="0"/>
          </a:p>
          <a:p>
            <a:pPr marL="1143000" lvl="3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- </a:t>
            </a:r>
            <a:r>
              <a:rPr lang="en-US" altLang="ko-KR" sz="1100" dirty="0" err="1"/>
              <a:t>HistoryDB</a:t>
            </a:r>
            <a:r>
              <a:rPr lang="en-US" altLang="ko-KR" sz="1100" dirty="0"/>
              <a:t>: </a:t>
            </a:r>
            <a:r>
              <a:rPr lang="ko-KR" altLang="en-US" sz="1100" dirty="0"/>
              <a:t>사용자의 대화 기록을 저장하며</a:t>
            </a:r>
            <a:r>
              <a:rPr lang="en-US" altLang="ko-KR" sz="1100" dirty="0"/>
              <a:t>, Django </a:t>
            </a:r>
            <a:r>
              <a:rPr lang="ko-KR" altLang="en-US" sz="1100" dirty="0"/>
              <a:t>기본 </a:t>
            </a:r>
            <a:r>
              <a:rPr lang="en-US" altLang="ko-KR" sz="1100" dirty="0"/>
              <a:t>id</a:t>
            </a:r>
            <a:r>
              <a:rPr lang="ko-KR" altLang="en-US" sz="1100" dirty="0"/>
              <a:t>를 기준으로 각 대화를 관리합니다</a:t>
            </a:r>
            <a:r>
              <a:rPr lang="en-US" altLang="ko-KR" sz="1100" dirty="0"/>
              <a:t>.</a:t>
            </a:r>
          </a:p>
          <a:p>
            <a:pPr marL="1143000" lvl="3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  </a:t>
            </a:r>
            <a:r>
              <a:rPr lang="ko-KR" altLang="en-US" sz="1100" dirty="0"/>
              <a:t>각 대화는 프로젝트 </a:t>
            </a:r>
            <a:r>
              <a:rPr lang="en-US" altLang="ko-KR" sz="1100" dirty="0"/>
              <a:t>ID</a:t>
            </a:r>
            <a:r>
              <a:rPr lang="ko-KR" altLang="en-US" sz="1100" dirty="0"/>
              <a:t>와 연결되어 분류되며</a:t>
            </a:r>
            <a:r>
              <a:rPr lang="en-US" altLang="ko-KR" sz="1100" dirty="0"/>
              <a:t>, </a:t>
            </a:r>
            <a:r>
              <a:rPr lang="ko-KR" altLang="en-US" sz="1100" dirty="0"/>
              <a:t>검색 유형</a:t>
            </a:r>
            <a:r>
              <a:rPr lang="en-US" altLang="ko-KR" sz="1100" dirty="0"/>
              <a:t>, </a:t>
            </a:r>
            <a:r>
              <a:rPr lang="ko-KR" altLang="en-US" sz="1100" dirty="0"/>
              <a:t>응답 출처 정보 등의 메타데이터를 함께 저장합니다</a:t>
            </a:r>
            <a:r>
              <a:rPr lang="en-US" altLang="ko-KR" sz="1100" dirty="0"/>
              <a:t>.</a:t>
            </a:r>
          </a:p>
          <a:p>
            <a:pPr marL="1143000" lvl="3" latinLnBrk="0">
              <a:lnSpc>
                <a:spcPct val="90000"/>
              </a:lnSpc>
              <a:spcAft>
                <a:spcPts val="600"/>
              </a:spcAft>
            </a:pPr>
            <a:endParaRPr lang="en-US" altLang="ko-KR" sz="1100" dirty="0"/>
          </a:p>
          <a:p>
            <a:pPr marL="1143000" lvl="3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- </a:t>
            </a:r>
            <a:r>
              <a:rPr lang="en-US" altLang="ko-KR" sz="1100" dirty="0" err="1"/>
              <a:t>ProjectDB</a:t>
            </a:r>
            <a:r>
              <a:rPr lang="en-US" altLang="ko-KR" sz="1100" dirty="0"/>
              <a:t>: </a:t>
            </a:r>
            <a:r>
              <a:rPr lang="ko-KR" altLang="en-US" sz="1100" dirty="0"/>
              <a:t>사용자의 대화 기록을 프로젝트</a:t>
            </a:r>
            <a:r>
              <a:rPr lang="en-US" altLang="ko-KR" sz="1100" dirty="0"/>
              <a:t>(</a:t>
            </a:r>
            <a:r>
              <a:rPr lang="ko-KR" altLang="en-US" sz="1100" dirty="0"/>
              <a:t>폴더</a:t>
            </a:r>
            <a:r>
              <a:rPr lang="en-US" altLang="ko-KR" sz="1100" dirty="0"/>
              <a:t>) </a:t>
            </a:r>
            <a:r>
              <a:rPr lang="ko-KR" altLang="en-US" sz="1100" dirty="0"/>
              <a:t>단위로 그룹화하기 위한 데이터베이스입니다</a:t>
            </a:r>
            <a:r>
              <a:rPr lang="en-US" altLang="ko-KR" sz="1100" dirty="0"/>
              <a:t>.</a:t>
            </a:r>
          </a:p>
          <a:p>
            <a:pPr marL="685800" lvl="2" latinLnBrk="0">
              <a:lnSpc>
                <a:spcPct val="90000"/>
              </a:lnSpc>
              <a:spcAft>
                <a:spcPts val="600"/>
              </a:spcAft>
            </a:pPr>
            <a:r>
              <a:rPr lang="en-US" altLang="ko-KR" sz="1100" dirty="0"/>
              <a:t>  </a:t>
            </a:r>
            <a:r>
              <a:rPr lang="ko-KR" altLang="en-US" sz="1100" dirty="0"/>
              <a:t>사용자별로 프로젝트명을 관리하며</a:t>
            </a:r>
            <a:r>
              <a:rPr lang="en-US" altLang="ko-KR" sz="1100" dirty="0"/>
              <a:t>, </a:t>
            </a:r>
            <a:r>
              <a:rPr lang="ko-KR" altLang="en-US" sz="1100" dirty="0"/>
              <a:t>동일 사용자가 동일한 이름의 프로젝트를 중복 생성하지 못하도록 제약 조건이 적용됩니다</a:t>
            </a:r>
            <a:r>
              <a:rPr lang="en-US" altLang="ko-KR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1538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0A6B3-A455-1BC2-295A-435DD3231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88D8E9C-B2FD-2F98-92B1-0F80F809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BD49BE14-A77F-B505-0FD1-14DFB0893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C0CDAD-BA24-4053-C9AC-658B51CAA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457A26F-B9D0-59CB-5C20-F2701506F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880" y="937469"/>
            <a:ext cx="10124440" cy="2800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latin typeface="Arial" panose="020B0604020202020204" pitchFamily="34" charset="0"/>
              </a:rPr>
              <a:t>2.3. LLM (Large Language Model) </a:t>
            </a:r>
            <a:r>
              <a:rPr lang="ko-KR" altLang="en-US" sz="1100" b="1" dirty="0">
                <a:latin typeface="Arial" panose="020B0604020202020204" pitchFamily="34" charset="0"/>
              </a:rPr>
              <a:t>및 </a:t>
            </a:r>
            <a:r>
              <a:rPr lang="en-US" altLang="ko-KR" sz="1100" b="1" dirty="0">
                <a:latin typeface="Arial" panose="020B0604020202020204" pitchFamily="34" charset="0"/>
              </a:rPr>
              <a:t>RAG (Retrieval-Augmented Generation)</a:t>
            </a:r>
          </a:p>
          <a:p>
            <a:pPr lv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latin typeface="Arial" panose="020B0604020202020204" pitchFamily="34" charset="0"/>
              </a:rPr>
              <a:t>- LLM: </a:t>
            </a:r>
            <a:r>
              <a:rPr lang="en-US" altLang="ko-KR" sz="1100" dirty="0">
                <a:latin typeface="Arial" panose="020B0604020202020204" pitchFamily="34" charset="0"/>
              </a:rPr>
              <a:t>GPT-4o-mini </a:t>
            </a:r>
            <a:r>
              <a:rPr lang="ko-KR" altLang="en-US" sz="1100" dirty="0">
                <a:latin typeface="Arial" panose="020B0604020202020204" pitchFamily="34" charset="0"/>
              </a:rPr>
              <a:t>모델을 사용하여 사용자의 질문에 대한 최종 답변을 생성합니다</a:t>
            </a:r>
            <a:r>
              <a:rPr lang="en-US" altLang="ko-KR" sz="1100" dirty="0">
                <a:latin typeface="Arial" panose="020B0604020202020204" pitchFamily="34" charset="0"/>
              </a:rPr>
              <a:t>.</a:t>
            </a:r>
            <a:endParaRPr lang="en-US" altLang="ko-KR" sz="1100" b="1" dirty="0">
              <a:latin typeface="Arial" panose="020B0604020202020204" pitchFamily="34" charset="0"/>
            </a:endParaRPr>
          </a:p>
          <a:p>
            <a:pPr lv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latin typeface="Arial" panose="020B0604020202020204" pitchFamily="34" charset="0"/>
              </a:rPr>
              <a:t>- RAG: </a:t>
            </a:r>
            <a:r>
              <a:rPr lang="en-US" altLang="ko-KR" sz="1100" dirty="0">
                <a:latin typeface="Arial" panose="020B0604020202020204" pitchFamily="34" charset="0"/>
              </a:rPr>
              <a:t>LLM</a:t>
            </a:r>
            <a:r>
              <a:rPr lang="ko-KR" altLang="en-US" sz="1100" dirty="0">
                <a:latin typeface="Arial" panose="020B0604020202020204" pitchFamily="34" charset="0"/>
              </a:rPr>
              <a:t>이 더 정확하고 신뢰도 높은 답변을 생성하도록 외부 문서 검색과 </a:t>
            </a:r>
            <a:r>
              <a:rPr lang="ko-KR" altLang="en-US" sz="1100" dirty="0" err="1">
                <a:latin typeface="Arial" panose="020B0604020202020204" pitchFamily="34" charset="0"/>
              </a:rPr>
              <a:t>재랭킹</a:t>
            </a:r>
            <a:r>
              <a:rPr lang="ko-KR" altLang="en-US" sz="1100" dirty="0">
                <a:latin typeface="Arial" panose="020B0604020202020204" pitchFamily="34" charset="0"/>
              </a:rPr>
              <a:t> 과정을 결합한 구조입니다</a:t>
            </a:r>
            <a:r>
              <a:rPr lang="en-US" altLang="ko-KR" sz="1100" dirty="0">
                <a:latin typeface="Arial" panose="020B0604020202020204" pitchFamily="34" charset="0"/>
              </a:rPr>
              <a:t>.</a:t>
            </a:r>
          </a:p>
          <a:p>
            <a:pPr lv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100" dirty="0">
              <a:latin typeface="Arial" panose="020B0604020202020204" pitchFamily="34" charset="0"/>
            </a:endParaRP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latin typeface="Arial" panose="020B0604020202020204" pitchFamily="34" charset="0"/>
              </a:rPr>
              <a:t>1) </a:t>
            </a:r>
            <a:r>
              <a:rPr lang="ko-KR" altLang="en-US" sz="1100" b="1" dirty="0">
                <a:latin typeface="Arial" panose="020B0604020202020204" pitchFamily="34" charset="0"/>
              </a:rPr>
              <a:t>질문 분석 및 검증</a:t>
            </a:r>
            <a:r>
              <a:rPr lang="en-US" altLang="ko-KR" sz="1100" b="1" dirty="0">
                <a:latin typeface="Arial" panose="020B0604020202020204" pitchFamily="34" charset="0"/>
              </a:rPr>
              <a:t>: </a:t>
            </a:r>
            <a:r>
              <a:rPr lang="ko-KR" altLang="en-US" sz="1100" dirty="0">
                <a:latin typeface="Arial" panose="020B0604020202020204" pitchFamily="34" charset="0"/>
              </a:rPr>
              <a:t>사용자의 질문을 영어로 번역한 뒤</a:t>
            </a:r>
            <a:r>
              <a:rPr lang="en-US" altLang="ko-KR" sz="1100" dirty="0">
                <a:latin typeface="Arial" panose="020B0604020202020204" pitchFamily="34" charset="0"/>
              </a:rPr>
              <a:t>, </a:t>
            </a:r>
            <a:r>
              <a:rPr lang="en-US" altLang="ko-KR" sz="1100" dirty="0" err="1">
                <a:latin typeface="Arial" panose="020B0604020202020204" pitchFamily="34" charset="0"/>
              </a:rPr>
              <a:t>topic_guard_node</a:t>
            </a:r>
            <a:r>
              <a:rPr lang="ko-KR" altLang="en-US" sz="1100" dirty="0">
                <a:latin typeface="Arial" panose="020B0604020202020204" pitchFamily="34" charset="0"/>
              </a:rPr>
              <a:t>를 통해 </a:t>
            </a:r>
            <a:r>
              <a:rPr lang="en-US" altLang="ko-KR" sz="1100" dirty="0">
                <a:latin typeface="Arial" panose="020B0604020202020204" pitchFamily="34" charset="0"/>
              </a:rPr>
              <a:t>AI/ML/LLM </a:t>
            </a:r>
            <a:r>
              <a:rPr lang="ko-KR" altLang="en-US" sz="1100" dirty="0">
                <a:latin typeface="Arial" panose="020B0604020202020204" pitchFamily="34" charset="0"/>
              </a:rPr>
              <a:t>관련 질의 여부를 검증합니다</a:t>
            </a:r>
            <a:r>
              <a:rPr lang="en-US" altLang="ko-KR" sz="1100" dirty="0">
                <a:latin typeface="Arial" panose="020B0604020202020204" pitchFamily="34" charset="0"/>
              </a:rPr>
              <a:t>.</a:t>
            </a: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100" dirty="0">
              <a:latin typeface="Arial" panose="020B0604020202020204" pitchFamily="34" charset="0"/>
            </a:endParaRP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latin typeface="Arial" panose="020B0604020202020204" pitchFamily="34" charset="0"/>
              </a:rPr>
              <a:t>2) </a:t>
            </a:r>
            <a:r>
              <a:rPr lang="ko-KR" altLang="en-US" sz="1100" b="1" dirty="0">
                <a:latin typeface="Arial" panose="020B0604020202020204" pitchFamily="34" charset="0"/>
              </a:rPr>
              <a:t>벡터 검색</a:t>
            </a:r>
            <a:r>
              <a:rPr lang="en-US" altLang="ko-KR" sz="1100" b="1" dirty="0">
                <a:latin typeface="Arial" panose="020B0604020202020204" pitchFamily="34" charset="0"/>
              </a:rPr>
              <a:t>: </a:t>
            </a:r>
            <a:r>
              <a:rPr lang="ko-KR" altLang="en-US" sz="1100" dirty="0">
                <a:latin typeface="Arial" panose="020B0604020202020204" pitchFamily="34" charset="0"/>
              </a:rPr>
              <a:t>질문을 벡터화</a:t>
            </a:r>
            <a:r>
              <a:rPr lang="en-US" altLang="ko-KR" sz="1100" dirty="0">
                <a:latin typeface="Arial" panose="020B0604020202020204" pitchFamily="34" charset="0"/>
              </a:rPr>
              <a:t>(Vectorize)</a:t>
            </a:r>
            <a:r>
              <a:rPr lang="ko-KR" altLang="en-US" sz="1100" dirty="0">
                <a:latin typeface="Arial" panose="020B0604020202020204" pitchFamily="34" charset="0"/>
              </a:rPr>
              <a:t>하여 </a:t>
            </a:r>
            <a:r>
              <a:rPr lang="en-US" altLang="ko-KR" sz="1100" dirty="0">
                <a:latin typeface="Arial" panose="020B0604020202020204" pitchFamily="34" charset="0"/>
              </a:rPr>
              <a:t>Vector DB</a:t>
            </a:r>
            <a:r>
              <a:rPr lang="ko-KR" altLang="en-US" sz="1100" dirty="0">
                <a:latin typeface="Arial" panose="020B0604020202020204" pitchFamily="34" charset="0"/>
              </a:rPr>
              <a:t>에서 관련 문서를 탐색합니다</a:t>
            </a:r>
            <a:r>
              <a:rPr lang="en-US" altLang="ko-KR" sz="1100" dirty="0">
                <a:latin typeface="Arial" panose="020B0604020202020204" pitchFamily="34" charset="0"/>
              </a:rPr>
              <a:t>.  </a:t>
            </a: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Arial" panose="020B0604020202020204" pitchFamily="34" charset="0"/>
              </a:rPr>
              <a:t>   </a:t>
            </a:r>
            <a:r>
              <a:rPr lang="ko-KR" altLang="en-US" sz="1100" dirty="0">
                <a:latin typeface="Arial" panose="020B0604020202020204" pitchFamily="34" charset="0"/>
              </a:rPr>
              <a:t>검색 과정에서는 </a:t>
            </a:r>
            <a:r>
              <a:rPr lang="en-US" altLang="ko-KR" sz="1100" dirty="0">
                <a:latin typeface="Arial" panose="020B0604020202020204" pitchFamily="34" charset="0"/>
              </a:rPr>
              <a:t>Query Expansion, Vector Search, BM25, RRF, </a:t>
            </a:r>
            <a:r>
              <a:rPr lang="ko-KR" altLang="en-US" sz="1100" dirty="0">
                <a:latin typeface="Arial" panose="020B0604020202020204" pitchFamily="34" charset="0"/>
              </a:rPr>
              <a:t>메타데이터 </a:t>
            </a:r>
            <a:r>
              <a:rPr lang="ko-KR" altLang="en-US" sz="1100" dirty="0" err="1">
                <a:latin typeface="Arial" panose="020B0604020202020204" pitchFamily="34" charset="0"/>
              </a:rPr>
              <a:t>부스팅</a:t>
            </a:r>
            <a:r>
              <a:rPr lang="en-US" altLang="ko-KR" sz="1100" dirty="0">
                <a:latin typeface="Arial" panose="020B0604020202020204" pitchFamily="34" charset="0"/>
              </a:rPr>
              <a:t>,</a:t>
            </a: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Arial" panose="020B0604020202020204" pitchFamily="34" charset="0"/>
              </a:rPr>
              <a:t>    Cross-Encoder </a:t>
            </a:r>
            <a:r>
              <a:rPr lang="ko-KR" altLang="en-US" sz="1100" dirty="0">
                <a:latin typeface="Arial" panose="020B0604020202020204" pitchFamily="34" charset="0"/>
              </a:rPr>
              <a:t>기반 </a:t>
            </a:r>
            <a:r>
              <a:rPr lang="en-US" altLang="ko-KR" sz="1100" dirty="0">
                <a:latin typeface="Arial" panose="020B0604020202020204" pitchFamily="34" charset="0"/>
              </a:rPr>
              <a:t>TOP3 </a:t>
            </a:r>
            <a:r>
              <a:rPr lang="ko-KR" altLang="en-US" sz="1100" dirty="0" err="1">
                <a:latin typeface="Arial" panose="020B0604020202020204" pitchFamily="34" charset="0"/>
              </a:rPr>
              <a:t>재랭킹</a:t>
            </a:r>
            <a:r>
              <a:rPr lang="ko-KR" altLang="en-US" sz="1100" dirty="0">
                <a:latin typeface="Arial" panose="020B0604020202020204" pitchFamily="34" charset="0"/>
              </a:rPr>
              <a:t> 기법을 활용합니다</a:t>
            </a:r>
            <a:r>
              <a:rPr lang="en-US" altLang="ko-KR" sz="1100" dirty="0">
                <a:latin typeface="Arial" panose="020B0604020202020204" pitchFamily="34" charset="0"/>
              </a:rPr>
              <a:t>.</a:t>
            </a: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100" b="1" dirty="0">
              <a:latin typeface="Arial" panose="020B0604020202020204" pitchFamily="34" charset="0"/>
            </a:endParaRP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latin typeface="Arial" panose="020B0604020202020204" pitchFamily="34" charset="0"/>
              </a:rPr>
              <a:t>3) </a:t>
            </a:r>
            <a:r>
              <a:rPr lang="ko-KR" altLang="en-US" sz="1100" b="1" dirty="0">
                <a:latin typeface="Arial" panose="020B0604020202020204" pitchFamily="34" charset="0"/>
              </a:rPr>
              <a:t>정보 결합 및 프롬프트 생성</a:t>
            </a:r>
            <a:r>
              <a:rPr lang="en-US" altLang="ko-KR" sz="1100" b="1" dirty="0">
                <a:latin typeface="Arial" panose="020B0604020202020204" pitchFamily="34" charset="0"/>
              </a:rPr>
              <a:t>: </a:t>
            </a:r>
            <a:r>
              <a:rPr lang="ko-KR" altLang="en-US" sz="1100" dirty="0">
                <a:latin typeface="Arial" panose="020B0604020202020204" pitchFamily="34" charset="0"/>
              </a:rPr>
              <a:t>검색된 문서와 원 질문을 결합하여 </a:t>
            </a:r>
            <a:r>
              <a:rPr lang="en-US" altLang="ko-KR" sz="1100" dirty="0">
                <a:latin typeface="Arial" panose="020B0604020202020204" pitchFamily="34" charset="0"/>
              </a:rPr>
              <a:t>LLM </a:t>
            </a:r>
            <a:r>
              <a:rPr lang="ko-KR" altLang="en-US" sz="1100" dirty="0">
                <a:latin typeface="Arial" panose="020B0604020202020204" pitchFamily="34" charset="0"/>
              </a:rPr>
              <a:t>입력용 프롬프트를 생성합니다</a:t>
            </a:r>
            <a:r>
              <a:rPr lang="en-US" altLang="ko-KR" sz="1100" dirty="0">
                <a:latin typeface="Arial" panose="020B0604020202020204" pitchFamily="34" charset="0"/>
              </a:rPr>
              <a:t>.</a:t>
            </a: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100" b="1" dirty="0">
              <a:latin typeface="Arial" panose="020B0604020202020204" pitchFamily="34" charset="0"/>
            </a:endParaRP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latin typeface="Arial" panose="020B0604020202020204" pitchFamily="34" charset="0"/>
              </a:rPr>
              <a:t>4) </a:t>
            </a:r>
            <a:r>
              <a:rPr lang="ko-KR" altLang="en-US" sz="1100" b="1" dirty="0">
                <a:latin typeface="Arial" panose="020B0604020202020204" pitchFamily="34" charset="0"/>
              </a:rPr>
              <a:t>답변 생성 및 검증</a:t>
            </a:r>
            <a:r>
              <a:rPr lang="en-US" altLang="ko-KR" sz="1100" b="1" dirty="0">
                <a:latin typeface="Arial" panose="020B0604020202020204" pitchFamily="34" charset="0"/>
              </a:rPr>
              <a:t>: </a:t>
            </a:r>
            <a:r>
              <a:rPr lang="en-US" altLang="ko-KR" sz="1100" dirty="0">
                <a:latin typeface="Arial" panose="020B0604020202020204" pitchFamily="34" charset="0"/>
              </a:rPr>
              <a:t>LLM</a:t>
            </a:r>
            <a:r>
              <a:rPr lang="ko-KR" altLang="en-US" sz="1100" dirty="0">
                <a:latin typeface="Arial" panose="020B0604020202020204" pitchFamily="34" charset="0"/>
              </a:rPr>
              <a:t>이 </a:t>
            </a:r>
            <a:r>
              <a:rPr lang="en-US" altLang="ko-KR" sz="1100" dirty="0" err="1">
                <a:latin typeface="Arial" panose="020B0604020202020204" pitchFamily="34" charset="0"/>
              </a:rPr>
              <a:t>evaluate_node</a:t>
            </a:r>
            <a:r>
              <a:rPr lang="ko-KR" altLang="en-US" sz="1100" dirty="0">
                <a:latin typeface="Arial" panose="020B0604020202020204" pitchFamily="34" charset="0"/>
              </a:rPr>
              <a:t>를 통해 문서 관련성을 평가한 후</a:t>
            </a:r>
            <a:r>
              <a:rPr lang="en-US" altLang="ko-KR" sz="1100" dirty="0">
                <a:latin typeface="Arial" panose="020B0604020202020204" pitchFamily="34" charset="0"/>
              </a:rPr>
              <a:t>,</a:t>
            </a: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Arial" panose="020B0604020202020204" pitchFamily="34" charset="0"/>
              </a:rPr>
              <a:t>   </a:t>
            </a:r>
            <a:r>
              <a:rPr lang="ko-KR" altLang="en-US" sz="1100" dirty="0">
                <a:latin typeface="Arial" panose="020B0604020202020204" pitchFamily="34" charset="0"/>
              </a:rPr>
              <a:t>최종 답변을 생성하거나 필요 시 </a:t>
            </a:r>
            <a:r>
              <a:rPr lang="en-US" altLang="ko-KR" sz="1100" dirty="0" err="1">
                <a:latin typeface="Arial" panose="020B0604020202020204" pitchFamily="34" charset="0"/>
              </a:rPr>
              <a:t>Tavily</a:t>
            </a:r>
            <a:r>
              <a:rPr lang="en-US" altLang="ko-KR" sz="1100" dirty="0">
                <a:latin typeface="Arial" panose="020B0604020202020204" pitchFamily="34" charset="0"/>
              </a:rPr>
              <a:t> </a:t>
            </a:r>
            <a:r>
              <a:rPr lang="ko-KR" altLang="en-US" sz="1100" dirty="0">
                <a:latin typeface="Arial" panose="020B0604020202020204" pitchFamily="34" charset="0"/>
              </a:rPr>
              <a:t>검색 </a:t>
            </a:r>
            <a:r>
              <a:rPr lang="en-US" altLang="ko-KR" sz="1100" dirty="0">
                <a:latin typeface="Arial" panose="020B0604020202020204" pitchFamily="34" charset="0"/>
              </a:rPr>
              <a:t>API</a:t>
            </a:r>
            <a:r>
              <a:rPr lang="ko-KR" altLang="en-US" sz="1100" dirty="0">
                <a:latin typeface="Arial" panose="020B0604020202020204" pitchFamily="34" charset="0"/>
              </a:rPr>
              <a:t>를 활용하여 최신 정보를 보완합니다</a:t>
            </a:r>
            <a:r>
              <a:rPr lang="en-US" altLang="ko-KR" sz="1100" dirty="0">
                <a:latin typeface="Arial" panose="020B0604020202020204" pitchFamily="34" charset="0"/>
              </a:rPr>
              <a:t>.</a:t>
            </a: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100" b="1" dirty="0">
              <a:latin typeface="Arial" panose="020B0604020202020204" pitchFamily="34" charset="0"/>
            </a:endParaRP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latin typeface="Arial" panose="020B0604020202020204" pitchFamily="34" charset="0"/>
              </a:rPr>
              <a:t>※ </a:t>
            </a:r>
            <a:r>
              <a:rPr lang="ko-KR" altLang="en-US" sz="1100" b="1" dirty="0">
                <a:latin typeface="Arial" panose="020B0604020202020204" pitchFamily="34" charset="0"/>
              </a:rPr>
              <a:t>지식 업데이트</a:t>
            </a:r>
            <a:r>
              <a:rPr lang="en-US" altLang="ko-KR" sz="1100" b="1" dirty="0">
                <a:latin typeface="Arial" panose="020B0604020202020204" pitchFamily="34" charset="0"/>
              </a:rPr>
              <a:t>:</a:t>
            </a: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Arial" panose="020B0604020202020204" pitchFamily="34" charset="0"/>
              </a:rPr>
              <a:t>   </a:t>
            </a:r>
            <a:r>
              <a:rPr lang="ko-KR" altLang="en-US" sz="1100" dirty="0">
                <a:latin typeface="Arial" panose="020B0604020202020204" pitchFamily="34" charset="0"/>
              </a:rPr>
              <a:t>신규 데이터는 벡터화 과정을 거쳐 </a:t>
            </a:r>
            <a:r>
              <a:rPr lang="en-US" altLang="ko-KR" sz="1100" dirty="0">
                <a:latin typeface="Arial" panose="020B0604020202020204" pitchFamily="34" charset="0"/>
              </a:rPr>
              <a:t>Vector DB</a:t>
            </a:r>
            <a:r>
              <a:rPr lang="ko-KR" altLang="en-US" sz="1100" dirty="0">
                <a:latin typeface="Arial" panose="020B0604020202020204" pitchFamily="34" charset="0"/>
              </a:rPr>
              <a:t>에 지속적으로 반영되며</a:t>
            </a:r>
            <a:r>
              <a:rPr lang="en-US" altLang="ko-KR" sz="1100" dirty="0">
                <a:latin typeface="Arial" panose="020B0604020202020204" pitchFamily="34" charset="0"/>
              </a:rPr>
              <a:t>,</a:t>
            </a:r>
          </a:p>
          <a:p>
            <a:pPr lvl="2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Arial" panose="020B0604020202020204" pitchFamily="34" charset="0"/>
              </a:rPr>
              <a:t>   </a:t>
            </a:r>
            <a:r>
              <a:rPr lang="ko-KR" altLang="en-US" sz="1100" dirty="0">
                <a:latin typeface="Arial" panose="020B0604020202020204" pitchFamily="34" charset="0"/>
              </a:rPr>
              <a:t>시스템의 최신성과 정확성을 유지합니다</a:t>
            </a:r>
            <a:r>
              <a:rPr lang="en-US" altLang="ko-KR" sz="11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081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DC3B0B-81D0-575F-34E1-07A6C445B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DC8CD68-E6B6-7996-3701-286C74847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62F09748-BE13-9109-F225-5E2741B4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C8D6AE-8CF6-3AE7-BA44-BE629F361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FA3B95-F278-88FE-5DB5-A8F3A1034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880" y="937469"/>
            <a:ext cx="10124440" cy="2800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latin typeface="Arial" panose="020B0604020202020204" pitchFamily="34" charset="0"/>
              </a:rPr>
              <a:t>3. </a:t>
            </a:r>
            <a:r>
              <a:rPr lang="ko-KR" altLang="en-US" sz="1200" b="1" dirty="0">
                <a:latin typeface="Arial" panose="020B0604020202020204" pitchFamily="34" charset="0"/>
              </a:rPr>
              <a:t>데이터 및 사용자 상호작용 흐름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en-US" sz="1200" dirty="0">
              <a:latin typeface="Arial" panose="020B0604020202020204" pitchFamily="34" charset="0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1) </a:t>
            </a:r>
            <a:r>
              <a:rPr lang="ko-KR" altLang="en-US" sz="1200" dirty="0">
                <a:latin typeface="Arial" panose="020B0604020202020204" pitchFamily="34" charset="0"/>
              </a:rPr>
              <a:t>로그인</a:t>
            </a:r>
            <a:r>
              <a:rPr lang="en-US" altLang="ko-KR" sz="1200" dirty="0">
                <a:latin typeface="Arial" panose="020B0604020202020204" pitchFamily="34" charset="0"/>
              </a:rPr>
              <a:t>/</a:t>
            </a:r>
            <a:r>
              <a:rPr lang="ko-KR" altLang="en-US" sz="1200" dirty="0">
                <a:latin typeface="Arial" panose="020B0604020202020204" pitchFamily="34" charset="0"/>
              </a:rPr>
              <a:t>회원가입</a:t>
            </a:r>
            <a:r>
              <a:rPr lang="en-US" altLang="ko-KR" sz="1200" dirty="0">
                <a:latin typeface="Arial" panose="020B0604020202020204" pitchFamily="34" charset="0"/>
              </a:rPr>
              <a:t>: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   	</a:t>
            </a:r>
            <a:r>
              <a:rPr lang="ko-KR" altLang="en-US" sz="1200" dirty="0">
                <a:latin typeface="Arial" panose="020B0604020202020204" pitchFamily="34" charset="0"/>
              </a:rPr>
              <a:t>사용자는 </a:t>
            </a:r>
            <a:r>
              <a:rPr lang="en-US" altLang="ko-KR" sz="1200" dirty="0">
                <a:latin typeface="Arial" panose="020B0604020202020204" pitchFamily="34" charset="0"/>
              </a:rPr>
              <a:t>Frontend</a:t>
            </a:r>
            <a:r>
              <a:rPr lang="ko-KR" altLang="en-US" sz="1200" dirty="0">
                <a:latin typeface="Arial" panose="020B0604020202020204" pitchFamily="34" charset="0"/>
              </a:rPr>
              <a:t>를 통해 계정을 생성하거나 로그인하며</a:t>
            </a:r>
            <a:r>
              <a:rPr lang="en-US" altLang="ko-KR" sz="1200" dirty="0">
                <a:latin typeface="Arial" panose="020B0604020202020204" pitchFamily="34" charset="0"/>
              </a:rPr>
              <a:t>, </a:t>
            </a:r>
            <a:r>
              <a:rPr lang="ko-KR" altLang="en-US" sz="1200" dirty="0">
                <a:latin typeface="Arial" panose="020B0604020202020204" pitchFamily="34" charset="0"/>
              </a:rPr>
              <a:t>사용자 정보는 </a:t>
            </a:r>
            <a:r>
              <a:rPr lang="en-US" altLang="ko-KR" sz="1200" dirty="0" err="1">
                <a:latin typeface="Arial" panose="020B0604020202020204" pitchFamily="34" charset="0"/>
              </a:rPr>
              <a:t>UserDB</a:t>
            </a:r>
            <a:r>
              <a:rPr lang="ko-KR" altLang="en-US" sz="1200" dirty="0">
                <a:latin typeface="Arial" panose="020B0604020202020204" pitchFamily="34" charset="0"/>
              </a:rPr>
              <a:t>에 저장됩니다</a:t>
            </a:r>
            <a:r>
              <a:rPr lang="en-US" altLang="ko-KR" sz="1200" dirty="0">
                <a:latin typeface="Arial" panose="020B0604020202020204" pitchFamily="34" charset="0"/>
              </a:rPr>
              <a:t>.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Arial" panose="020B0604020202020204" pitchFamily="34" charset="0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2) </a:t>
            </a:r>
            <a:r>
              <a:rPr lang="ko-KR" altLang="en-US" sz="1200" dirty="0">
                <a:latin typeface="Arial" panose="020B0604020202020204" pitchFamily="34" charset="0"/>
              </a:rPr>
              <a:t>질문 입력</a:t>
            </a:r>
            <a:r>
              <a:rPr lang="en-US" altLang="ko-KR" sz="1200" dirty="0">
                <a:latin typeface="Arial" panose="020B0604020202020204" pitchFamily="34" charset="0"/>
              </a:rPr>
              <a:t>: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   	</a:t>
            </a:r>
            <a:r>
              <a:rPr lang="ko-KR" altLang="en-US" sz="1200" dirty="0">
                <a:latin typeface="Arial" panose="020B0604020202020204" pitchFamily="34" charset="0"/>
              </a:rPr>
              <a:t>사용자가 </a:t>
            </a:r>
            <a:r>
              <a:rPr lang="ko-KR" altLang="en-US" sz="1200" dirty="0" err="1">
                <a:latin typeface="Arial" panose="020B0604020202020204" pitchFamily="34" charset="0"/>
              </a:rPr>
              <a:t>챗봇</a:t>
            </a:r>
            <a:r>
              <a:rPr lang="ko-KR" altLang="en-US" sz="1200" dirty="0">
                <a:latin typeface="Arial" panose="020B0604020202020204" pitchFamily="34" charset="0"/>
              </a:rPr>
              <a:t> 인터페이스에 질문을 입력합니다</a:t>
            </a:r>
            <a:r>
              <a:rPr lang="en-US" altLang="ko-KR" sz="1200" dirty="0">
                <a:latin typeface="Arial" panose="020B0604020202020204" pitchFamily="34" charset="0"/>
              </a:rPr>
              <a:t>.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Arial" panose="020B0604020202020204" pitchFamily="34" charset="0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3) </a:t>
            </a:r>
            <a:r>
              <a:rPr lang="ko-KR" altLang="en-US" sz="1200" dirty="0" err="1">
                <a:latin typeface="Arial" panose="020B0604020202020204" pitchFamily="34" charset="0"/>
              </a:rPr>
              <a:t>백엔드</a:t>
            </a:r>
            <a:r>
              <a:rPr lang="ko-KR" altLang="en-US" sz="1200" dirty="0">
                <a:latin typeface="Arial" panose="020B0604020202020204" pitchFamily="34" charset="0"/>
              </a:rPr>
              <a:t> 전달</a:t>
            </a:r>
            <a:r>
              <a:rPr lang="en-US" altLang="ko-KR" sz="1200" dirty="0">
                <a:latin typeface="Arial" panose="020B0604020202020204" pitchFamily="34" charset="0"/>
              </a:rPr>
              <a:t>: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   	</a:t>
            </a:r>
            <a:r>
              <a:rPr lang="ko-KR" altLang="en-US" sz="1200" dirty="0">
                <a:latin typeface="Arial" panose="020B0604020202020204" pitchFamily="34" charset="0"/>
              </a:rPr>
              <a:t>입력된 질문은 </a:t>
            </a:r>
            <a:r>
              <a:rPr lang="en-US" altLang="ko-KR" sz="1200" dirty="0">
                <a:latin typeface="Arial" panose="020B0604020202020204" pitchFamily="34" charset="0"/>
              </a:rPr>
              <a:t>Backend </a:t>
            </a:r>
            <a:r>
              <a:rPr lang="ko-KR" altLang="en-US" sz="1200" dirty="0">
                <a:latin typeface="Arial" panose="020B0604020202020204" pitchFamily="34" charset="0"/>
              </a:rPr>
              <a:t>서버로 전달되어 새로운 대화 세션이 생성됩니다</a:t>
            </a:r>
            <a:r>
              <a:rPr lang="en-US" altLang="ko-KR" sz="1200" dirty="0">
                <a:latin typeface="Arial" panose="020B0604020202020204" pitchFamily="34" charset="0"/>
              </a:rPr>
              <a:t>.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Arial" panose="020B0604020202020204" pitchFamily="34" charset="0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4) RAG </a:t>
            </a:r>
            <a:r>
              <a:rPr lang="ko-KR" altLang="en-US" sz="1200" dirty="0">
                <a:latin typeface="Arial" panose="020B0604020202020204" pitchFamily="34" charset="0"/>
              </a:rPr>
              <a:t>시스템 작동</a:t>
            </a:r>
            <a:r>
              <a:rPr lang="en-US" altLang="ko-KR" sz="1200" dirty="0">
                <a:latin typeface="Arial" panose="020B0604020202020204" pitchFamily="34" charset="0"/>
              </a:rPr>
              <a:t>: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   	</a:t>
            </a:r>
            <a:r>
              <a:rPr lang="ko-KR" altLang="en-US" sz="1200" dirty="0">
                <a:latin typeface="Arial" panose="020B0604020202020204" pitchFamily="34" charset="0"/>
              </a:rPr>
              <a:t>질문은 </a:t>
            </a:r>
            <a:r>
              <a:rPr lang="en-US" altLang="ko-KR" sz="1200" dirty="0">
                <a:latin typeface="Arial" panose="020B0604020202020204" pitchFamily="34" charset="0"/>
              </a:rPr>
              <a:t>RAG </a:t>
            </a:r>
            <a:r>
              <a:rPr lang="ko-KR" altLang="en-US" sz="1200" dirty="0">
                <a:latin typeface="Arial" panose="020B0604020202020204" pitchFamily="34" charset="0"/>
              </a:rPr>
              <a:t>파이프라인으로 전달되어 관련 문서를 검색하고</a:t>
            </a:r>
            <a:r>
              <a:rPr lang="en-US" altLang="ko-KR" sz="1200" dirty="0">
                <a:latin typeface="Arial" panose="020B0604020202020204" pitchFamily="34" charset="0"/>
              </a:rPr>
              <a:t>, LLM </a:t>
            </a:r>
            <a:r>
              <a:rPr lang="ko-KR" altLang="en-US" sz="1200" dirty="0">
                <a:latin typeface="Arial" panose="020B0604020202020204" pitchFamily="34" charset="0"/>
              </a:rPr>
              <a:t>입력용 프롬프트가 생성됩니다</a:t>
            </a:r>
            <a:r>
              <a:rPr lang="en-US" altLang="ko-KR" sz="1200" dirty="0">
                <a:latin typeface="Arial" panose="020B0604020202020204" pitchFamily="34" charset="0"/>
              </a:rPr>
              <a:t>.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Arial" panose="020B0604020202020204" pitchFamily="34" charset="0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5) LLM </a:t>
            </a:r>
            <a:r>
              <a:rPr lang="ko-KR" altLang="en-US" sz="1200" dirty="0">
                <a:latin typeface="Arial" panose="020B0604020202020204" pitchFamily="34" charset="0"/>
              </a:rPr>
              <a:t>답변 생성</a:t>
            </a:r>
            <a:r>
              <a:rPr lang="en-US" altLang="ko-KR" sz="1200" dirty="0">
                <a:latin typeface="Arial" panose="020B0604020202020204" pitchFamily="34" charset="0"/>
              </a:rPr>
              <a:t>: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   	LLM</a:t>
            </a:r>
            <a:r>
              <a:rPr lang="ko-KR" altLang="en-US" sz="1200" dirty="0">
                <a:latin typeface="Arial" panose="020B0604020202020204" pitchFamily="34" charset="0"/>
              </a:rPr>
              <a:t>이 프롬프트를 기반으로 답변을 생성합니다</a:t>
            </a:r>
            <a:r>
              <a:rPr lang="en-US" altLang="ko-KR" sz="1200" dirty="0">
                <a:latin typeface="Arial" panose="020B0604020202020204" pitchFamily="34" charset="0"/>
              </a:rPr>
              <a:t>.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Arial" panose="020B0604020202020204" pitchFamily="34" charset="0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6) </a:t>
            </a:r>
            <a:r>
              <a:rPr lang="ko-KR" altLang="en-US" sz="1200" dirty="0">
                <a:latin typeface="Arial" panose="020B0604020202020204" pitchFamily="34" charset="0"/>
              </a:rPr>
              <a:t>답변 전달 및 저장</a:t>
            </a:r>
            <a:r>
              <a:rPr lang="en-US" altLang="ko-KR" sz="1200" dirty="0">
                <a:latin typeface="Arial" panose="020B0604020202020204" pitchFamily="34" charset="0"/>
              </a:rPr>
              <a:t>: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   	</a:t>
            </a:r>
            <a:r>
              <a:rPr lang="ko-KR" altLang="en-US" sz="1200" dirty="0">
                <a:latin typeface="Arial" panose="020B0604020202020204" pitchFamily="34" charset="0"/>
              </a:rPr>
              <a:t>생성된 답변은 </a:t>
            </a:r>
            <a:r>
              <a:rPr lang="en-US" altLang="ko-KR" sz="1200" dirty="0">
                <a:latin typeface="Arial" panose="020B0604020202020204" pitchFamily="34" charset="0"/>
              </a:rPr>
              <a:t>Frontend </a:t>
            </a:r>
            <a:r>
              <a:rPr lang="ko-KR" altLang="en-US" sz="1200" dirty="0">
                <a:latin typeface="Arial" panose="020B0604020202020204" pitchFamily="34" charset="0"/>
              </a:rPr>
              <a:t>화면에 표시되며</a:t>
            </a:r>
            <a:r>
              <a:rPr lang="en-US" altLang="ko-KR" sz="1200" dirty="0">
                <a:latin typeface="Arial" panose="020B0604020202020204" pitchFamily="34" charset="0"/>
              </a:rPr>
              <a:t>, </a:t>
            </a:r>
            <a:r>
              <a:rPr lang="ko-KR" altLang="en-US" sz="1200" dirty="0">
                <a:latin typeface="Arial" panose="020B0604020202020204" pitchFamily="34" charset="0"/>
              </a:rPr>
              <a:t>대화 내용은 </a:t>
            </a:r>
            <a:r>
              <a:rPr lang="en-US" altLang="ko-KR" sz="1200" dirty="0" err="1">
                <a:latin typeface="Arial" panose="020B0604020202020204" pitchFamily="34" charset="0"/>
              </a:rPr>
              <a:t>HistoryDB</a:t>
            </a:r>
            <a:r>
              <a:rPr lang="ko-KR" altLang="en-US" sz="1200" dirty="0">
                <a:latin typeface="Arial" panose="020B0604020202020204" pitchFamily="34" charset="0"/>
              </a:rPr>
              <a:t>에 저장됩니다</a:t>
            </a:r>
            <a:r>
              <a:rPr lang="en-US" altLang="ko-KR" sz="1200" dirty="0">
                <a:latin typeface="Arial" panose="020B0604020202020204" pitchFamily="34" charset="0"/>
              </a:rPr>
              <a:t>.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Arial" panose="020B0604020202020204" pitchFamily="34" charset="0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7) </a:t>
            </a:r>
            <a:r>
              <a:rPr lang="ko-KR" altLang="en-US" sz="1200" dirty="0">
                <a:latin typeface="Arial" panose="020B0604020202020204" pitchFamily="34" charset="0"/>
              </a:rPr>
              <a:t>개인화 서비스</a:t>
            </a:r>
            <a:r>
              <a:rPr lang="en-US" altLang="ko-KR" sz="1200" dirty="0">
                <a:latin typeface="Arial" panose="020B0604020202020204" pitchFamily="34" charset="0"/>
              </a:rPr>
              <a:t>: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Arial" panose="020B0604020202020204" pitchFamily="34" charset="0"/>
              </a:rPr>
              <a:t>   	</a:t>
            </a:r>
            <a:r>
              <a:rPr lang="ko-KR" altLang="en-US" sz="1200" dirty="0">
                <a:latin typeface="Arial" panose="020B0604020202020204" pitchFamily="34" charset="0"/>
              </a:rPr>
              <a:t>사용자는 생성된 대화를 프로젝트</a:t>
            </a:r>
            <a:r>
              <a:rPr lang="en-US" altLang="ko-KR" sz="1200" dirty="0">
                <a:latin typeface="Arial" panose="020B0604020202020204" pitchFamily="34" charset="0"/>
              </a:rPr>
              <a:t>(</a:t>
            </a:r>
            <a:r>
              <a:rPr lang="ko-KR" altLang="en-US" sz="1200" dirty="0">
                <a:latin typeface="Arial" panose="020B0604020202020204" pitchFamily="34" charset="0"/>
              </a:rPr>
              <a:t>폴더</a:t>
            </a:r>
            <a:r>
              <a:rPr lang="en-US" altLang="ko-KR" sz="1200" dirty="0">
                <a:latin typeface="Arial" panose="020B0604020202020204" pitchFamily="34" charset="0"/>
              </a:rPr>
              <a:t>) </a:t>
            </a:r>
            <a:r>
              <a:rPr lang="ko-KR" altLang="en-US" sz="1200" dirty="0">
                <a:latin typeface="Arial" panose="020B0604020202020204" pitchFamily="34" charset="0"/>
              </a:rPr>
              <a:t>단위로 분류하여 저장하고 관리할 수 있습니다</a:t>
            </a:r>
            <a:r>
              <a:rPr lang="en-US" altLang="ko-KR" sz="1200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9044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665</Words>
  <Application>Microsoft Office PowerPoint</Application>
  <PresentationFormat>와이드스크린</PresentationFormat>
  <Paragraphs>73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이규영</dc:creator>
  <cp:lastModifiedBy>소영 정</cp:lastModifiedBy>
  <cp:revision>19</cp:revision>
  <dcterms:created xsi:type="dcterms:W3CDTF">2025-07-01T03:19:05Z</dcterms:created>
  <dcterms:modified xsi:type="dcterms:W3CDTF">2026-01-09T02:28:02Z</dcterms:modified>
</cp:coreProperties>
</file>